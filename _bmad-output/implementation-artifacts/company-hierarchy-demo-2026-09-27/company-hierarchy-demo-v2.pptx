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025e29b19d41b7" /><Relationship Type="http://schemas.openxmlformats.org/officeDocument/2006/relationships/extended-properties" Target="/docProps/app.xml" Id="Rc1e4c5be42674562" /><Relationship Type="http://schemas.openxmlformats.org/officeDocument/2006/relationships/officeDocument" Target="/ppt/presentation.xml" Id="R50b2d95abe4d49bd" /></Relationships>
</file>

<file path=ppt/presentation.xml><?xml version="1.0" encoding="utf-8"?>
<p:presentation xmlns:p="http://schemas.openxmlformats.org/presentationml/2006/main">
  <p:sldMasterIdLst>
    <p:sldMasterId xmlns:r="http://schemas.openxmlformats.org/officeDocument/2006/relationships" id="2147483648" r:id="R38d2b696ccba4ce1"/>
  </p:sldMasterIdLst>
  <p:notesMasterIdLst>
    <p:notesMasterId xmlns:r="http://schemas.openxmlformats.org/officeDocument/2006/relationships" r:id="Rd6eab2e468154072"/>
  </p:notesMasterIdLst>
  <p:sldIdLst>
    <p:sldId xmlns:r="http://schemas.openxmlformats.org/officeDocument/2006/relationships" id="256" r:id="R633a89da9d1c46a6"/>
    <p:sldId xmlns:r="http://schemas.openxmlformats.org/officeDocument/2006/relationships" id="257" r:id="Rf39e8f5db2cf474d"/>
    <p:sldId xmlns:r="http://schemas.openxmlformats.org/officeDocument/2006/relationships" id="258" r:id="R1a3634d54496472b"/>
    <p:sldId xmlns:r="http://schemas.openxmlformats.org/officeDocument/2006/relationships" id="259" r:id="R9b3df20923004133"/>
    <p:sldId xmlns:r="http://schemas.openxmlformats.org/officeDocument/2006/relationships" id="260" r:id="R18668e285362493a"/>
    <p:sldId xmlns:r="http://schemas.openxmlformats.org/officeDocument/2006/relationships" id="261" r:id="Rcfcd31ee249147a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f9e56ddba94ba0" /><Relationship Type="http://schemas.openxmlformats.org/officeDocument/2006/relationships/slideMaster" Target="/ppt/slideMasters/slideMaster1.xml" Id="R38d2b696ccba4ce1" /><Relationship Type="http://schemas.openxmlformats.org/officeDocument/2006/relationships/notesMaster" Target="/ppt/notesMasters/notesMaster1.xml" Id="Rd6eab2e468154072" /><Relationship Type="http://schemas.openxmlformats.org/officeDocument/2006/relationships/presProps" Target="/ppt/presProps.xml" Id="R8be5de8b887d4c4e" /><Relationship Type="http://schemas.openxmlformats.org/officeDocument/2006/relationships/tableStyles" Target="/ppt/tableStyles.xml" Id="R6df9be9178be478f" /><Relationship Type="http://schemas.openxmlformats.org/officeDocument/2006/relationships/slide" Target="/ppt/slides/slide1.xml" Id="R633a89da9d1c46a6" /><Relationship Type="http://schemas.openxmlformats.org/officeDocument/2006/relationships/slide" Target="/ppt/slides/slide2.xml" Id="Rf39e8f5db2cf474d" /><Relationship Type="http://schemas.openxmlformats.org/officeDocument/2006/relationships/slide" Target="/ppt/slides/slide3.xml" Id="R1a3634d54496472b" /><Relationship Type="http://schemas.openxmlformats.org/officeDocument/2006/relationships/slide" Target="/ppt/slides/slide4.xml" Id="R9b3df20923004133" /><Relationship Type="http://schemas.openxmlformats.org/officeDocument/2006/relationships/slide" Target="/ppt/slides/slide5.xml" Id="R18668e285362493a" /><Relationship Type="http://schemas.openxmlformats.org/officeDocument/2006/relationships/slide" Target="/ppt/slides/slide6.xml" Id="Rcfcd31ee249147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966b3a8cf842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1a0378f2474fde" /><Relationship Type="http://schemas.openxmlformats.org/officeDocument/2006/relationships/notesMaster" Target="/ppt/notesMasters/notesMaster1.xml" Id="R4fc3b223c74544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f33720adc94b34" /><Relationship Type="http://schemas.openxmlformats.org/officeDocument/2006/relationships/notesMaster" Target="/ppt/notesMasters/notesMaster1.xml" Id="Rd382f6bcffd447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00aa06d0cc4c61" /><Relationship Type="http://schemas.openxmlformats.org/officeDocument/2006/relationships/notesMaster" Target="/ppt/notesMasters/notesMaster1.xml" Id="R0470ae5333684b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cd70c845224fca" /><Relationship Type="http://schemas.openxmlformats.org/officeDocument/2006/relationships/notesMaster" Target="/ppt/notesMasters/notesMaster1.xml" Id="R71a533a155804c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bba869d0f34d39" /><Relationship Type="http://schemas.openxmlformats.org/officeDocument/2006/relationships/notesMaster" Target="/ppt/notesMasters/notesMaster1.xml" Id="Rcabe20a5b22d4c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e9b46aa3974aaf" /><Relationship Type="http://schemas.openxmlformats.org/officeDocument/2006/relationships/notesMaster" Target="/ppt/notesMasters/notesMaster1.xml" Id="Rf04af4b2b0ce46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Открытие, 30 секунд. Это тестовый пилот в production tenant Test AI Agent, запущенный из feature branch без merge в main. Покажите подтверждённый путь: Company Admin создаёт структуру, связывает Slack, активирует Unit, Employee получает первое сообщение и отвечает в прежней истории. Не показывайте содержимое личного Slack-диалога.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Около 45 секунд. Покажите формы Person, Unit и Team. Отдельно отметьте CSV preview: импорт атомарный и возможен только после проверки. В текущем пилоте 3 Persons, 1 активный Unit и 0 Teams. На демо не создавайте новые записи. Источник: production Company setup, 27.09.2026; BMAD acceptance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Около 45 секунд. Покажите статус active / Ready. Сопоставление выполняется по точному рабочему email; неоднозначные случаи решаются вручную. Для тестового Employee существующий User был сохранён вместе с разговором и старым членством в QA Team. Старую Team не переносили в новую иерархию. Источник: production Company setup и BMAD acceptance audit, 27.09.2026.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Около 60 секунд. Сначала UI отклонил нажатие без действия для Previous Manager. Затем Employee стал Manager, прежний Manager стал прямым Employee того же Unit. Сразу выполнен обратный шаг. PostgreSQL подтвердил исходные роли и placement, а audit_logs содержит обе операции. Во время командного демо только покажите форму; повторная замена не требуется. Источник: production UI и BMAD acceptance audit, 27.09.2026.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Около 60 секунд. Оба первых сообщения имеют состояние Delivered и Slack receipts. Тестовый Employee ответил в прежнем DM; входящие сообщения и ответы бота записались в прежний conversation и User ID. На экране исходный Manager и прямой Employee после тестового возврата ролей. Мы не раскрываем текст Slack сообщений в презентации. Источник: production setup, PostgreSQL/Slack readback и BMAD acceptance audit, 27.09.2026.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Завершение, 45 секунд. Чётко отделите проверенный пилот от расширения. В production один Unit и нет Team; поэтому Team Lead и перенос между Unit проверены локально, но не на живом составе. Неопределённых отправок в текущем tenant нет. Сценарий с квитанцией и без неё проверен на изолированной PostgreSQL: сомнительная отправка не переотправляется автоматически. Если команда хочет расширять пилот, подготовьте отдельные тестовые аккаунты Manager, Team Lead и Employee.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19d3f3842744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960c3339a14646" /><Relationship Type="http://schemas.openxmlformats.org/officeDocument/2006/relationships/slideLayout" Target="/ppt/slideLayouts/slideLayout1.xml" Id="Rda6980ddb1b145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6980ddb1b145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04f75c2a164f84" /><Relationship Type="http://schemas.openxmlformats.org/officeDocument/2006/relationships/notesSlide" Target="/ppt/notesSlides/notesSlide1.xml" Id="Rbb07575815ea4c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2749a7ea6a4668" /><Relationship Type="http://schemas.openxmlformats.org/officeDocument/2006/relationships/image" Target="/ppt/media/image.jpeg" Id="Ra99473aa56d74609" /><Relationship Type="http://schemas.openxmlformats.org/officeDocument/2006/relationships/notesSlide" Target="/ppt/notesSlides/notesSlide2.xml" Id="Red84afdca08e49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f611e0fae3474d" /><Relationship Type="http://schemas.openxmlformats.org/officeDocument/2006/relationships/image" Target="/ppt/media/image2.jpeg" Id="Rc56f0482b29545a6" /><Relationship Type="http://schemas.openxmlformats.org/officeDocument/2006/relationships/notesSlide" Target="/ppt/notesSlides/notesSlide3.xml" Id="R823d580e98b54a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4ee572f0bd4029" /><Relationship Type="http://schemas.openxmlformats.org/officeDocument/2006/relationships/image" Target="/ppt/media/image3.jpeg" Id="R8e56bff35b35475e" /><Relationship Type="http://schemas.openxmlformats.org/officeDocument/2006/relationships/notesSlide" Target="/ppt/notesSlides/notesSlide4.xml" Id="R80f8d58577224d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bff4a4ede94fa8" /><Relationship Type="http://schemas.openxmlformats.org/officeDocument/2006/relationships/image" Target="/ppt/media/image4.jpeg" Id="Raf567618a4644b21" /><Relationship Type="http://schemas.openxmlformats.org/officeDocument/2006/relationships/notesSlide" Target="/ppt/notesSlides/notesSlide5.xml" Id="R94ecec4f75dc4c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540dbdf4284be2" /><Relationship Type="http://schemas.openxmlformats.org/officeDocument/2006/relationships/notesSlide" Target="/ppt/notesSlides/notesSlide6.xml" Id="Rc857c08990dc46bf" /></Relationships>
</file>

<file path=ppt/slides/slide1.xml><?xml version="1.0" encoding="utf-8"?>
<p:sld xmlns:p="http://schemas.openxmlformats.org/presentationml/2006/main">
  <p:cSld>
    <p:bg>
      <p:bgPr>
        <a:solidFill xmlns:a="http://schemas.openxmlformats.org/drawingml/2006/main">
          <a:srgbClr val="1D334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D25B52-3B08-41DF-80ED-0EE2E5A82EE9}"/>
              </a:ext>
            </a:extLst>
          </p:cNvPr>
          <p:cNvSpPr>
            <a:spLocks xmlns:a="http://schemas.openxmlformats.org/drawingml/2006/main" noGrp="1"/>
          </p:cNvSpPr>
          <p:nvPr/>
        </p:nvSpPr>
        <p:spPr>
          <a:xfrm xmlns:a="http://schemas.openxmlformats.org/drawingml/2006/main">
            <a:off x="1238250" y="2667000"/>
            <a:ext cx="1562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FFFFFF"/>
                </a:solidFill>
                <a:latin typeface="Arial"/>
                <a:ea typeface="Arial"/>
                <a:cs typeface="Arial"/>
              </a:defRPr>
            </a:pPr>
            <a:r>
              <a:rPr sz="7800" b="1">
                <a:solidFill>
                  <a:srgbClr val="FFFFFF"/>
                </a:solidFill>
                <a:latin typeface="Arial"/>
                <a:ea typeface="Arial"/>
                <a:cs typeface="Arial"/>
              </a:rPr>
              <a:t>Company Hierarchy MVP</a:t>
            </a:r>
          </a:p>
        </p:txBody>
      </p:sp>
      <p:sp>
        <p:nvSpPr>
          <p:cNvPr id="2" name="">
            <a:extLst xmlns:a="http://schemas.openxmlformats.org/drawingml/2006/main">
              <a:ext uri="{FF2B5EF4-FFF2-40B4-BE49-F238E27FC236}">
                <a16:creationId xmlns:a16="http://schemas.microsoft.com/office/drawing/2014/main" id="{C8364D8B-3483-4517-B0D5-EE678135A89F}"/>
              </a:ext>
            </a:extLst>
          </p:cNvPr>
          <p:cNvSpPr>
            <a:spLocks xmlns:a="http://schemas.openxmlformats.org/drawingml/2006/main" noGrp="1"/>
          </p:cNvSpPr>
          <p:nvPr/>
        </p:nvSpPr>
        <p:spPr>
          <a:xfrm xmlns:a="http://schemas.openxmlformats.org/drawingml/2006/main">
            <a:off x="1285875" y="4476750"/>
            <a:ext cx="1495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CBE7E3"/>
                </a:solidFill>
                <a:latin typeface="Arial"/>
                <a:ea typeface="Arial"/>
                <a:cs typeface="Arial"/>
              </a:defRPr>
            </a:pPr>
            <a:r>
              <a:rPr sz="3600" b="0">
                <a:solidFill>
                  <a:srgbClr val="CBE7E3"/>
                </a:solidFill>
                <a:latin typeface="Arial"/>
                <a:ea typeface="Arial"/>
                <a:cs typeface="Arial"/>
              </a:rPr>
              <a:t>Демо тестового пилота в production</a:t>
            </a:r>
          </a:p>
        </p:txBody>
      </p:sp>
      <p:sp>
        <p:nvSpPr>
          <p:cNvPr id="3" name="">
            <a:extLst xmlns:a="http://schemas.openxmlformats.org/drawingml/2006/main">
              <a:ext uri="{FF2B5EF4-FFF2-40B4-BE49-F238E27FC236}">
                <a16:creationId xmlns:a16="http://schemas.microsoft.com/office/drawing/2014/main" id="{E7A67FBB-4A47-4C70-9DCF-2D2140FFED1A}"/>
              </a:ext>
            </a:extLst>
          </p:cNvPr>
          <p:cNvSpPr>
            <a:spLocks xmlns:a="http://schemas.openxmlformats.org/drawingml/2006/main" noGrp="1"/>
          </p:cNvSpPr>
          <p:nvPr/>
        </p:nvSpPr>
        <p:spPr>
          <a:xfrm xmlns:a="http://schemas.openxmlformats.org/drawingml/2006/main">
            <a:off x="1314450" y="5619750"/>
            <a:ext cx="1457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Структура компании · Slack · первый контакт · смена ролей</a:t>
            </a:r>
          </a:p>
        </p:txBody>
      </p:sp>
      <p:sp>
        <p:nvSpPr>
          <p:cNvPr id="4" name="">
            <a:extLst xmlns:a="http://schemas.openxmlformats.org/drawingml/2006/main">
              <a:ext uri="{FF2B5EF4-FFF2-40B4-BE49-F238E27FC236}">
                <a16:creationId xmlns:a16="http://schemas.microsoft.com/office/drawing/2014/main" id="{0F66035B-78D2-4D63-92CD-849E62270771}"/>
              </a:ext>
            </a:extLst>
          </p:cNvPr>
          <p:cNvSpPr>
            <a:spLocks xmlns:a="http://schemas.openxmlformats.org/drawingml/2006/main" noGrp="1"/>
          </p:cNvSpPr>
          <p:nvPr/>
        </p:nvSpPr>
        <p:spPr>
          <a:xfrm xmlns:a="http://schemas.openxmlformats.org/drawingml/2006/main">
            <a:off x="1314450" y="88106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6C9D6"/>
                </a:solidFill>
                <a:latin typeface="Arial"/>
                <a:ea typeface="Arial"/>
                <a:cs typeface="Arial"/>
              </a:defRPr>
            </a:pPr>
            <a:r>
              <a:rPr sz="2025" b="0">
                <a:solidFill>
                  <a:srgbClr val="B6C9D6"/>
                </a:solidFill>
                <a:latin typeface="Arial"/>
                <a:ea typeface="Arial"/>
                <a:cs typeface="Arial"/>
              </a:rPr>
              <a:t>Test AI Agent · 27 сентября 2026</a:t>
            </a:r>
          </a:p>
        </p:txBody>
      </p:sp>
    </p:spTree>
    <p:extLst>
      <p:ext uri="{BB962C8B-B14F-4D97-AF65-F5344CB8AC3E}">
        <p14:creationId xmlns:p14="http://schemas.microsoft.com/office/powerpoint/2010/main" val="539984285"/>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167EAC7-4AB1-4E37-BF25-573AE8DA0A6B}"/>
              </a:ext>
            </a:extLst>
          </p:cNvPr>
          <p:cNvSpPr>
            <a:spLocks xmlns:a="http://schemas.openxmlformats.org/drawingml/2006/main" noGrp="1"/>
          </p:cNvSpPr>
          <p:nvPr/>
        </p:nvSpPr>
        <p:spPr>
          <a:xfrm xmlns:a="http://schemas.openxmlformats.org/drawingml/2006/main">
            <a:off x="1000125" y="495300"/>
            <a:ext cx="16287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D3348"/>
                </a:solidFill>
                <a:latin typeface="Arial"/>
                <a:ea typeface="Arial"/>
                <a:cs typeface="Arial"/>
              </a:defRPr>
            </a:pPr>
            <a:r>
              <a:rPr sz="4500" b="1">
                <a:solidFill>
                  <a:srgbClr val="1D3348"/>
                </a:solidFill>
                <a:latin typeface="Arial"/>
                <a:ea typeface="Arial"/>
                <a:cs typeface="Arial"/>
              </a:rPr>
              <a:t>Черновики структуры</a:t>
            </a:r>
          </a:p>
        </p:txBody>
      </p:sp>
      <p:sp>
        <p:nvSpPr>
          <p:cNvPr id="2" name="">
            <a:extLst xmlns:a="http://schemas.openxmlformats.org/drawingml/2006/main">
              <a:ext uri="{FF2B5EF4-FFF2-40B4-BE49-F238E27FC236}">
                <a16:creationId xmlns:a16="http://schemas.microsoft.com/office/drawing/2014/main" id="{AB4DB251-2B08-410E-83EC-0F57128D917D}"/>
              </a:ext>
            </a:extLst>
          </p:cNvPr>
          <p:cNvSpPr>
            <a:spLocks xmlns:a="http://schemas.openxmlformats.org/drawingml/2006/main" noGrp="1"/>
          </p:cNvSpPr>
          <p:nvPr/>
        </p:nvSpPr>
        <p:spPr>
          <a:xfrm xmlns:a="http://schemas.openxmlformats.org/drawingml/2006/main">
            <a:off x="1028700" y="1304925"/>
            <a:ext cx="1619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334B5E"/>
                </a:solidFill>
                <a:latin typeface="Arial"/>
                <a:ea typeface="Arial"/>
                <a:cs typeface="Arial"/>
              </a:defRPr>
            </a:pPr>
            <a:r>
              <a:rPr sz="2400" b="0">
                <a:solidFill>
                  <a:srgbClr val="334B5E"/>
                </a:solidFill>
                <a:latin typeface="Arial"/>
                <a:ea typeface="Arial"/>
                <a:cs typeface="Arial"/>
              </a:rPr>
              <a:t>Person, Unit и Team создаются до активации; CSV сначала проходит preview.</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99473aa56d74609"/>
          <a:stretch xmlns:a="http://schemas.openxmlformats.org/drawingml/2006/main"/>
        </p:blipFill>
        <p:spPr>
          <a:xfrm xmlns:a="http://schemas.openxmlformats.org/drawingml/2006/main">
            <a:off x="1981200" y="2080750"/>
            <a:ext cx="14325600" cy="7611399"/>
          </a:xfrm>
          <a:prstGeom xmlns:a="http://schemas.openxmlformats.org/drawingml/2006/main" prst="rect">
            <a:avLst/>
          </a:prstGeom>
        </p:spPr>
      </p:pic>
    </p:spTree>
    <p:extLst>
      <p:ext uri="{BB962C8B-B14F-4D97-AF65-F5344CB8AC3E}">
        <p14:creationId xmlns:p14="http://schemas.microsoft.com/office/powerpoint/2010/main" val="1321705345"/>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6CCFFDC-16ED-40A8-8C8B-B3A02074FC02}"/>
              </a:ext>
            </a:extLst>
          </p:cNvPr>
          <p:cNvSpPr>
            <a:spLocks xmlns:a="http://schemas.openxmlformats.org/drawingml/2006/main" noGrp="1"/>
          </p:cNvSpPr>
          <p:nvPr/>
        </p:nvSpPr>
        <p:spPr>
          <a:xfrm xmlns:a="http://schemas.openxmlformats.org/drawingml/2006/main">
            <a:off x="1000125" y="495300"/>
            <a:ext cx="16287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D3348"/>
                </a:solidFill>
                <a:latin typeface="Arial"/>
                <a:ea typeface="Arial"/>
                <a:cs typeface="Arial"/>
              </a:defRPr>
            </a:pPr>
            <a:r>
              <a:rPr sz="4500" b="1">
                <a:solidFill>
                  <a:srgbClr val="1D3348"/>
                </a:solidFill>
                <a:latin typeface="Arial"/>
                <a:ea typeface="Arial"/>
                <a:cs typeface="Arial"/>
              </a:rPr>
              <a:t>Связь со Slack</a:t>
            </a:r>
          </a:p>
        </p:txBody>
      </p:sp>
      <p:sp>
        <p:nvSpPr>
          <p:cNvPr id="2" name="">
            <a:extLst xmlns:a="http://schemas.openxmlformats.org/drawingml/2006/main">
              <a:ext uri="{FF2B5EF4-FFF2-40B4-BE49-F238E27FC236}">
                <a16:creationId xmlns:a16="http://schemas.microsoft.com/office/drawing/2014/main" id="{FF142695-B97D-41F3-BC62-AA02C4379A8F}"/>
              </a:ext>
            </a:extLst>
          </p:cNvPr>
          <p:cNvSpPr>
            <a:spLocks xmlns:a="http://schemas.openxmlformats.org/drawingml/2006/main" noGrp="1"/>
          </p:cNvSpPr>
          <p:nvPr/>
        </p:nvSpPr>
        <p:spPr>
          <a:xfrm xmlns:a="http://schemas.openxmlformats.org/drawingml/2006/main">
            <a:off x="1028700" y="1304925"/>
            <a:ext cx="1619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334B5E"/>
                </a:solidFill>
                <a:latin typeface="Arial"/>
                <a:ea typeface="Arial"/>
                <a:cs typeface="Arial"/>
              </a:defRPr>
            </a:pPr>
            <a:r>
              <a:rPr sz="2400" b="0">
                <a:solidFill>
                  <a:srgbClr val="334B5E"/>
                </a:solidFill>
                <a:latin typeface="Arial"/>
                <a:ea typeface="Arial"/>
                <a:cs typeface="Arial"/>
              </a:rPr>
              <a:t>Workspace активен; сопоставление по рабочему email готово.</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56f0482b29545a6"/>
          <a:stretch xmlns:a="http://schemas.openxmlformats.org/drawingml/2006/main"/>
        </p:blipFill>
        <p:spPr>
          <a:xfrm xmlns:a="http://schemas.openxmlformats.org/drawingml/2006/main">
            <a:off x="1981200" y="2080750"/>
            <a:ext cx="14325600" cy="7611399"/>
          </a:xfrm>
          <a:prstGeom xmlns:a="http://schemas.openxmlformats.org/drawingml/2006/main" prst="rect">
            <a:avLst/>
          </a:prstGeom>
        </p:spPr>
      </p:pic>
    </p:spTree>
    <p:extLst>
      <p:ext uri="{BB962C8B-B14F-4D97-AF65-F5344CB8AC3E}">
        <p14:creationId xmlns:p14="http://schemas.microsoft.com/office/powerpoint/2010/main" val="1354446204"/>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A46ACA-56C6-4186-A137-03C2E49EB27D}"/>
              </a:ext>
            </a:extLst>
          </p:cNvPr>
          <p:cNvSpPr>
            <a:spLocks xmlns:a="http://schemas.openxmlformats.org/drawingml/2006/main" noGrp="1"/>
          </p:cNvSpPr>
          <p:nvPr/>
        </p:nvSpPr>
        <p:spPr>
          <a:xfrm xmlns:a="http://schemas.openxmlformats.org/drawingml/2006/main">
            <a:off x="1000125" y="495300"/>
            <a:ext cx="16287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D3348"/>
                </a:solidFill>
                <a:latin typeface="Arial"/>
                <a:ea typeface="Arial"/>
                <a:cs typeface="Arial"/>
              </a:defRPr>
            </a:pPr>
            <a:r>
              <a:rPr sz="4500" b="1">
                <a:solidFill>
                  <a:srgbClr val="1D3348"/>
                </a:solidFill>
                <a:latin typeface="Arial"/>
                <a:ea typeface="Arial"/>
                <a:cs typeface="Arial"/>
              </a:rPr>
              <a:t>Смена Manager</a:t>
            </a:r>
          </a:p>
        </p:txBody>
      </p:sp>
      <p:sp>
        <p:nvSpPr>
          <p:cNvPr id="2" name="">
            <a:extLst xmlns:a="http://schemas.openxmlformats.org/drawingml/2006/main">
              <a:ext uri="{FF2B5EF4-FFF2-40B4-BE49-F238E27FC236}">
                <a16:creationId xmlns:a16="http://schemas.microsoft.com/office/drawing/2014/main" id="{37E0E649-09E9-4D51-93AF-B7CF4BE60596}"/>
              </a:ext>
            </a:extLst>
          </p:cNvPr>
          <p:cNvSpPr>
            <a:spLocks xmlns:a="http://schemas.openxmlformats.org/drawingml/2006/main" noGrp="1"/>
          </p:cNvSpPr>
          <p:nvPr/>
        </p:nvSpPr>
        <p:spPr>
          <a:xfrm xmlns:a="http://schemas.openxmlformats.org/drawingml/2006/main">
            <a:off x="1028700" y="1304925"/>
            <a:ext cx="1619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334B5E"/>
                </a:solidFill>
                <a:latin typeface="Arial"/>
                <a:ea typeface="Arial"/>
                <a:cs typeface="Arial"/>
              </a:defRPr>
            </a:pPr>
            <a:r>
              <a:rPr sz="2400" b="0">
                <a:solidFill>
                  <a:srgbClr val="334B5E"/>
                </a:solidFill>
                <a:latin typeface="Arial"/>
                <a:ea typeface="Arial"/>
                <a:cs typeface="Arial"/>
              </a:rPr>
              <a:t>Прежнему владельцу обязательно выбирают действие; тест замены и возврата прошёл.</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e56bff35b35475e"/>
          <a:stretch xmlns:a="http://schemas.openxmlformats.org/drawingml/2006/main"/>
        </p:blipFill>
        <p:spPr>
          <a:xfrm xmlns:a="http://schemas.openxmlformats.org/drawingml/2006/main">
            <a:off x="1981200" y="2080750"/>
            <a:ext cx="14325600" cy="7611399"/>
          </a:xfrm>
          <a:prstGeom xmlns:a="http://schemas.openxmlformats.org/drawingml/2006/main" prst="rect">
            <a:avLst/>
          </a:prstGeom>
        </p:spPr>
      </p:pic>
    </p:spTree>
    <p:extLst>
      <p:ext uri="{BB962C8B-B14F-4D97-AF65-F5344CB8AC3E}">
        <p14:creationId xmlns:p14="http://schemas.microsoft.com/office/powerpoint/2010/main" val="741001572"/>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1AB1D79-71B2-4DC9-860C-B4187EE2FC2F}"/>
              </a:ext>
            </a:extLst>
          </p:cNvPr>
          <p:cNvSpPr>
            <a:spLocks xmlns:a="http://schemas.openxmlformats.org/drawingml/2006/main" noGrp="1"/>
          </p:cNvSpPr>
          <p:nvPr/>
        </p:nvSpPr>
        <p:spPr>
          <a:xfrm xmlns:a="http://schemas.openxmlformats.org/drawingml/2006/main">
            <a:off x="1000125" y="495300"/>
            <a:ext cx="16287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D3348"/>
                </a:solidFill>
                <a:latin typeface="Arial"/>
                <a:ea typeface="Arial"/>
                <a:cs typeface="Arial"/>
              </a:defRPr>
            </a:pPr>
            <a:r>
              <a:rPr sz="4500" b="1">
                <a:solidFill>
                  <a:srgbClr val="1D3348"/>
                </a:solidFill>
                <a:latin typeface="Arial"/>
                <a:ea typeface="Arial"/>
                <a:cs typeface="Arial"/>
              </a:rPr>
              <a:t>Первый контакт и активный Unit</a:t>
            </a:r>
          </a:p>
        </p:txBody>
      </p:sp>
      <p:sp>
        <p:nvSpPr>
          <p:cNvPr id="2" name="">
            <a:extLst xmlns:a="http://schemas.openxmlformats.org/drawingml/2006/main">
              <a:ext uri="{FF2B5EF4-FFF2-40B4-BE49-F238E27FC236}">
                <a16:creationId xmlns:a16="http://schemas.microsoft.com/office/drawing/2014/main" id="{BAE77888-5388-4A66-B388-82F7000DBA86}"/>
              </a:ext>
            </a:extLst>
          </p:cNvPr>
          <p:cNvSpPr>
            <a:spLocks xmlns:a="http://schemas.openxmlformats.org/drawingml/2006/main" noGrp="1"/>
          </p:cNvSpPr>
          <p:nvPr/>
        </p:nvSpPr>
        <p:spPr>
          <a:xfrm xmlns:a="http://schemas.openxmlformats.org/drawingml/2006/main">
            <a:off x="1028700" y="1304925"/>
            <a:ext cx="1619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334B5E"/>
                </a:solidFill>
                <a:latin typeface="Arial"/>
                <a:ea typeface="Arial"/>
                <a:cs typeface="Arial"/>
              </a:defRPr>
            </a:pPr>
            <a:r>
              <a:rPr sz="2400" b="0">
                <a:solidFill>
                  <a:srgbClr val="334B5E"/>
                </a:solidFill>
                <a:latin typeface="Arial"/>
                <a:ea typeface="Arial"/>
                <a:cs typeface="Arial"/>
              </a:rPr>
              <a:t>Оба сообщения доставлены; ответ Employee остался в прежнем диалоге.</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f567618a4644b21"/>
          <a:stretch xmlns:a="http://schemas.openxmlformats.org/drawingml/2006/main"/>
        </p:blipFill>
        <p:spPr>
          <a:xfrm xmlns:a="http://schemas.openxmlformats.org/drawingml/2006/main">
            <a:off x="1981200" y="2080750"/>
            <a:ext cx="14325600" cy="7611399"/>
          </a:xfrm>
          <a:prstGeom xmlns:a="http://schemas.openxmlformats.org/drawingml/2006/main" prst="rect">
            <a:avLst/>
          </a:prstGeom>
        </p:spPr>
      </p:pic>
    </p:spTree>
    <p:extLst>
      <p:ext uri="{BB962C8B-B14F-4D97-AF65-F5344CB8AC3E}">
        <p14:creationId xmlns:p14="http://schemas.microsoft.com/office/powerpoint/2010/main" val="1621130551"/>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F0B47C-4781-48F3-9ADB-F59DDBC7CD47}"/>
              </a:ext>
            </a:extLst>
          </p:cNvPr>
          <p:cNvSpPr>
            <a:spLocks xmlns:a="http://schemas.openxmlformats.org/drawingml/2006/main" noGrp="1"/>
          </p:cNvSpPr>
          <p:nvPr/>
        </p:nvSpPr>
        <p:spPr>
          <a:xfrm xmlns:a="http://schemas.openxmlformats.org/drawingml/2006/main">
            <a:off x="1000125" y="71437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1D3348"/>
                </a:solidFill>
                <a:latin typeface="Arial"/>
                <a:ea typeface="Arial"/>
                <a:cs typeface="Arial"/>
              </a:defRPr>
            </a:pPr>
            <a:r>
              <a:rPr sz="5250" b="1">
                <a:solidFill>
                  <a:srgbClr val="1D3348"/>
                </a:solidFill>
                <a:latin typeface="Arial"/>
                <a:ea typeface="Arial"/>
                <a:cs typeface="Arial"/>
              </a:rPr>
              <a:t>Границы пилота</a:t>
            </a:r>
          </a:p>
        </p:txBody>
      </p:sp>
      <p:sp>
        <p:nvSpPr>
          <p:cNvPr id="2" name="">
            <a:extLst xmlns:a="http://schemas.openxmlformats.org/drawingml/2006/main">
              <a:ext uri="{FF2B5EF4-FFF2-40B4-BE49-F238E27FC236}">
                <a16:creationId xmlns:a16="http://schemas.microsoft.com/office/drawing/2014/main" id="{637BE9E1-C355-4E40-AF4E-1C10036A9B4B}"/>
              </a:ext>
            </a:extLst>
          </p:cNvPr>
          <p:cNvSpPr>
            <a:spLocks xmlns:a="http://schemas.openxmlformats.org/drawingml/2006/main" noGrp="1"/>
          </p:cNvSpPr>
          <p:nvPr/>
        </p:nvSpPr>
        <p:spPr>
          <a:xfrm xmlns:a="http://schemas.openxmlformats.org/drawingml/2006/main">
            <a:off x="1066800" y="2428875"/>
            <a:ext cx="1457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F7977"/>
                </a:solidFill>
                <a:latin typeface="Arial"/>
                <a:ea typeface="Arial"/>
                <a:cs typeface="Arial"/>
              </a:defRPr>
            </a:pPr>
            <a:r>
              <a:rPr sz="3300" b="1">
                <a:solidFill>
                  <a:srgbClr val="2F7977"/>
                </a:solidFill>
                <a:latin typeface="Arial"/>
                <a:ea typeface="Arial"/>
                <a:cs typeface="Arial"/>
              </a:rPr>
              <a:t>Подтверждено в production</a:t>
            </a:r>
          </a:p>
        </p:txBody>
      </p:sp>
      <p:sp>
        <p:nvSpPr>
          <p:cNvPr id="3" name="">
            <a:extLst xmlns:a="http://schemas.openxmlformats.org/drawingml/2006/main">
              <a:ext uri="{FF2B5EF4-FFF2-40B4-BE49-F238E27FC236}">
                <a16:creationId xmlns:a16="http://schemas.microsoft.com/office/drawing/2014/main" id="{3986F22A-7F37-4BD7-A965-4AF820048B15}"/>
              </a:ext>
            </a:extLst>
          </p:cNvPr>
          <p:cNvSpPr>
            <a:spLocks xmlns:a="http://schemas.openxmlformats.org/drawingml/2006/main" noGrp="1"/>
          </p:cNvSpPr>
          <p:nvPr/>
        </p:nvSpPr>
        <p:spPr>
          <a:xfrm xmlns:a="http://schemas.openxmlformats.org/drawingml/2006/main">
            <a:off x="1066800" y="3257550"/>
            <a:ext cx="15049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334B5E"/>
                </a:solidFill>
                <a:latin typeface="Arial"/>
                <a:ea typeface="Arial"/>
                <a:cs typeface="Arial"/>
              </a:defRPr>
            </a:pPr>
            <a:r>
              <a:rPr sz="2850" b="0">
                <a:solidFill>
                  <a:srgbClr val="334B5E"/>
                </a:solidFill>
                <a:latin typeface="Arial"/>
                <a:ea typeface="Arial"/>
                <a:cs typeface="Arial"/>
              </a:rPr>
              <a:t>Вход Company Admin · активный Unit · Slack DM · ответ Employee · замена Manager</a:t>
            </a:r>
          </a:p>
        </p:txBody>
      </p:sp>
      <p:sp>
        <p:nvSpPr>
          <p:cNvPr id="4" name="">
            <a:extLst xmlns:a="http://schemas.openxmlformats.org/drawingml/2006/main">
              <a:ext uri="{FF2B5EF4-FFF2-40B4-BE49-F238E27FC236}">
                <a16:creationId xmlns:a16="http://schemas.microsoft.com/office/drawing/2014/main" id="{1E40A53F-A276-4618-97C2-489CE6A0D2D8}"/>
              </a:ext>
            </a:extLst>
          </p:cNvPr>
          <p:cNvSpPr>
            <a:spLocks xmlns:a="http://schemas.openxmlformats.org/drawingml/2006/main" noGrp="1"/>
          </p:cNvSpPr>
          <p:nvPr/>
        </p:nvSpPr>
        <p:spPr>
          <a:xfrm xmlns:a="http://schemas.openxmlformats.org/drawingml/2006/main">
            <a:off x="1066800" y="5619750"/>
            <a:ext cx="1457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F7977"/>
                </a:solidFill>
                <a:latin typeface="Arial"/>
                <a:ea typeface="Arial"/>
                <a:cs typeface="Arial"/>
              </a:defRPr>
            </a:pPr>
            <a:r>
              <a:rPr sz="3300" b="1">
                <a:solidFill>
                  <a:srgbClr val="2F7977"/>
                </a:solidFill>
                <a:latin typeface="Arial"/>
                <a:ea typeface="Arial"/>
                <a:cs typeface="Arial"/>
              </a:rPr>
              <a:t>Следующий этап</a:t>
            </a:r>
          </a:p>
        </p:txBody>
      </p:sp>
      <p:sp>
        <p:nvSpPr>
          <p:cNvPr id="5" name="">
            <a:extLst xmlns:a="http://schemas.openxmlformats.org/drawingml/2006/main">
              <a:ext uri="{FF2B5EF4-FFF2-40B4-BE49-F238E27FC236}">
                <a16:creationId xmlns:a16="http://schemas.microsoft.com/office/drawing/2014/main" id="{E01C974B-AE46-444B-99D5-0916F71FF14F}"/>
              </a:ext>
            </a:extLst>
          </p:cNvPr>
          <p:cNvSpPr>
            <a:spLocks xmlns:a="http://schemas.openxmlformats.org/drawingml/2006/main" noGrp="1"/>
          </p:cNvSpPr>
          <p:nvPr/>
        </p:nvSpPr>
        <p:spPr>
          <a:xfrm xmlns:a="http://schemas.openxmlformats.org/drawingml/2006/main">
            <a:off x="1066800" y="6448425"/>
            <a:ext cx="15049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334B5E"/>
                </a:solidFill>
                <a:latin typeface="Arial"/>
                <a:ea typeface="Arial"/>
                <a:cs typeface="Arial"/>
              </a:defRPr>
            </a:pPr>
            <a:r>
              <a:rPr sz="2850" b="0">
                <a:solidFill>
                  <a:srgbClr val="334B5E"/>
                </a:solidFill>
                <a:latin typeface="Arial"/>
                <a:ea typeface="Arial"/>
                <a:cs typeface="Arial"/>
              </a:rPr>
              <a:t>Для живого показа Team Lead и переноса между Unit нужен дополнительный тестовый состав.</a:t>
            </a:r>
          </a:p>
        </p:txBody>
      </p:sp>
      <p:sp>
        <p:nvSpPr>
          <p:cNvPr id="6" name="">
            <a:extLst xmlns:a="http://schemas.openxmlformats.org/drawingml/2006/main">
              <a:ext uri="{FF2B5EF4-FFF2-40B4-BE49-F238E27FC236}">
                <a16:creationId xmlns:a16="http://schemas.microsoft.com/office/drawing/2014/main" id="{2C941C18-2540-401D-A412-98DECED84899}"/>
              </a:ext>
            </a:extLst>
          </p:cNvPr>
          <p:cNvSpPr>
            <a:spLocks xmlns:a="http://schemas.openxmlformats.org/drawingml/2006/main" noGrp="1"/>
          </p:cNvSpPr>
          <p:nvPr/>
        </p:nvSpPr>
        <p:spPr>
          <a:xfrm xmlns:a="http://schemas.openxmlformats.org/drawingml/2006/main">
            <a:off x="1066800" y="8572500"/>
            <a:ext cx="1543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47689"/>
                </a:solidFill>
                <a:latin typeface="Arial"/>
                <a:ea typeface="Arial"/>
                <a:cs typeface="Arial"/>
              </a:defRPr>
            </a:pPr>
            <a:r>
              <a:rPr sz="2175" b="0">
                <a:solidFill>
                  <a:srgbClr val="647689"/>
                </a:solidFill>
                <a:latin typeface="Arial"/>
                <a:ea typeface="Arial"/>
                <a:cs typeface="Arial"/>
              </a:rPr>
              <a:t>Неопределённых отправок в production сейчас нет; сценарий восстановления прошёл тест на PostgreSQL.</a:t>
            </a:r>
          </a:p>
        </p:txBody>
      </p:sp>
    </p:spTree>
    <p:extLst>
      <p:ext uri="{BB962C8B-B14F-4D97-AF65-F5344CB8AC3E}">
        <p14:creationId xmlns:p14="http://schemas.microsoft.com/office/powerpoint/2010/main" val="1137053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2026-09-27T19:58:59.8360000Z</dcterms:created>
  <dcterms:modified xsi:type="dcterms:W3CDTF">2026-09-27T19:58:59.8360000Z</dcterms:modified>
</coreProperties>
</file>